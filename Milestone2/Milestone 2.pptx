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312" r:id="rId5"/>
    <p:sldId id="332" r:id="rId6"/>
    <p:sldId id="338" r:id="rId7"/>
    <p:sldId id="339" r:id="rId8"/>
    <p:sldId id="340" r:id="rId9"/>
    <p:sldId id="342" r:id="rId10"/>
    <p:sldId id="341" r:id="rId11"/>
    <p:sldId id="343" r:id="rId12"/>
    <p:sldId id="297" r:id="rId1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70B4260-72EB-4F39-934C-F2F67009AFC7}">
          <p14:sldIdLst>
            <p14:sldId id="312"/>
          </p14:sldIdLst>
        </p14:section>
        <p14:section name="Untitled Section" id="{9F4D262B-8211-4C5B-9D79-445FA29DAC08}">
          <p14:sldIdLst>
            <p14:sldId id="332"/>
            <p14:sldId id="338"/>
            <p14:sldId id="339"/>
            <p14:sldId id="340"/>
            <p14:sldId id="342"/>
            <p14:sldId id="341"/>
            <p14:sldId id="343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>
        <p:scale>
          <a:sx n="66" d="100"/>
          <a:sy n="66" d="100"/>
        </p:scale>
        <p:origin x="668" y="18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8080" y="1181540"/>
            <a:ext cx="6755840" cy="4444197"/>
          </a:xfrm>
        </p:spPr>
        <p:txBody>
          <a:bodyPr anchor="ctr"/>
          <a:lstStyle/>
          <a:p>
            <a:r>
              <a:rPr lang="en-US" dirty="0"/>
              <a:t>Controlling Volume with Hand Gestures</a:t>
            </a:r>
            <a:br>
              <a:rPr lang="en-US" dirty="0"/>
            </a:br>
            <a:r>
              <a:rPr lang="en-US" dirty="0"/>
              <a:t>Using a Webcam</a:t>
            </a:r>
            <a:br>
              <a:rPr lang="en-US" dirty="0"/>
            </a:br>
            <a:r>
              <a:rPr lang="en-US" sz="2000" dirty="0">
                <a:solidFill>
                  <a:schemeClr val="tx1"/>
                </a:solidFill>
              </a:rPr>
              <a:t>by : </a:t>
            </a:r>
            <a:r>
              <a:rPr lang="en-US" sz="2000" u="sng" dirty="0" err="1">
                <a:solidFill>
                  <a:schemeClr val="tx2"/>
                </a:solidFill>
              </a:rPr>
              <a:t>Dhanush.m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mentor :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Dr. 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D.Bhanu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Prakash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</a:rPr>
            </a:b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6" name="Picture 2" descr="Infosys Springboard | Bangalore">
            <a:extLst>
              <a:ext uri="{FF2B5EF4-FFF2-40B4-BE49-F238E27FC236}">
                <a16:creationId xmlns:a16="http://schemas.microsoft.com/office/drawing/2014/main" id="{C192BDF2-E195-18C6-54E4-F9666030A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510" y="1"/>
            <a:ext cx="2316480" cy="199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0A853-99DD-EDC3-AC7B-19C2ABB6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438954"/>
            <a:ext cx="10511627" cy="471489"/>
          </a:xfrm>
        </p:spPr>
        <p:txBody>
          <a:bodyPr/>
          <a:lstStyle/>
          <a:p>
            <a:r>
              <a:rPr lang="en-US" sz="2400" dirty="0"/>
              <a:t>Gesture Recognition and Distance Measurement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2A5F5-319A-2045-8DF3-6B1023784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C11FEB-2A8E-6625-63FB-F683DF9E3B03}"/>
              </a:ext>
            </a:extLst>
          </p:cNvPr>
          <p:cNvSpPr txBox="1"/>
          <p:nvPr/>
        </p:nvSpPr>
        <p:spPr>
          <a:xfrm>
            <a:off x="2512423" y="948637"/>
            <a:ext cx="7262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b="1" u="sng" dirty="0"/>
              <a:t>Core Code Snippets Used for Hand Landmark Detection</a:t>
            </a:r>
            <a:endParaRPr lang="en-IN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DF4653-DE82-5BC9-C040-9F21E1F5417F}"/>
              </a:ext>
            </a:extLst>
          </p:cNvPr>
          <p:cNvSpPr txBox="1"/>
          <p:nvPr/>
        </p:nvSpPr>
        <p:spPr>
          <a:xfrm>
            <a:off x="725566" y="1356163"/>
            <a:ext cx="5181601" cy="535531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Importing Libraries: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cv2,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mediapipe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np,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pandas as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pd,matplotlib.pyplot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Loads all essential libraries for video capture, landmark detection, data handling, and visualization.</a:t>
            </a:r>
          </a:p>
          <a:p>
            <a:endParaRPr lang="en-IN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2.</a:t>
            </a:r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Initializing </a:t>
            </a:r>
            <a:r>
              <a:rPr lang="en-IN" b="1" dirty="0" err="1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MediaPipe</a:t>
            </a:r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Hands: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mp_hands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mp.solutions.hands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mp_drawing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mp.solutions.drawing_utils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hands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mp_hands.Hands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static_image_mode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=False,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model_complexity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=1,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min_detection_confidence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=0.75,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min_tracking_confidence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=0.75 )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Sets up the </a:t>
            </a:r>
            <a:r>
              <a:rPr lang="en-US" b="1" dirty="0"/>
              <a:t>hand detection model</a:t>
            </a:r>
            <a:r>
              <a:rPr lang="en-US" dirty="0"/>
              <a:t> with confidence thresholds and tracking enabled.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Detects up to </a:t>
            </a:r>
            <a:r>
              <a:rPr lang="en-US" b="1" dirty="0"/>
              <a:t>2 hands</a:t>
            </a:r>
            <a:r>
              <a:rPr lang="en-US" dirty="0"/>
              <a:t> and tracks </a:t>
            </a:r>
            <a:r>
              <a:rPr lang="en-US" b="1" dirty="0"/>
              <a:t>21 key landmarks</a:t>
            </a:r>
            <a:r>
              <a:rPr lang="en-US" dirty="0"/>
              <a:t> per hand.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A86A4E-1F30-805E-FC27-E667903D72A4}"/>
              </a:ext>
            </a:extLst>
          </p:cNvPr>
          <p:cNvSpPr txBox="1"/>
          <p:nvPr/>
        </p:nvSpPr>
        <p:spPr>
          <a:xfrm>
            <a:off x="6284833" y="1356163"/>
            <a:ext cx="51411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3.</a:t>
            </a:r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Capturing Frame from Webcam: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 = cv2.VideoCapture(0, cv2.CAP_DSHOW)  ret, frame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cap.read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cap.release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frame = cv2.flip(frame, 1)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frame_rgb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cv2.cvtColor(frame,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cv2.COLOR_BGR2RGB)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Captures a live webcam frame, flips it for a mirror view, and converts it to RGB (required by </a:t>
            </a:r>
            <a:r>
              <a:rPr lang="en-US" dirty="0" err="1"/>
              <a:t>MediaPipe</a:t>
            </a:r>
            <a:r>
              <a:rPr lang="en-US" dirty="0"/>
              <a:t>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4. </a:t>
            </a:r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Processing the frame: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hands.process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frame_rgb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		if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results.multi_hand_landmarks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hand_landmarks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results.multi_hand_landmarks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[0]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Sends the captured frame to the </a:t>
            </a:r>
            <a:r>
              <a:rPr lang="en-US" b="1" dirty="0" err="1"/>
              <a:t>MediaPipe</a:t>
            </a:r>
            <a:r>
              <a:rPr lang="en-US" b="1" dirty="0"/>
              <a:t> model</a:t>
            </a:r>
            <a:r>
              <a:rPr lang="en-US" dirty="0"/>
              <a:t> to detect and extract landmarks.</a:t>
            </a:r>
          </a:p>
        </p:txBody>
      </p:sp>
    </p:spTree>
    <p:extLst>
      <p:ext uri="{BB962C8B-B14F-4D97-AF65-F5344CB8AC3E}">
        <p14:creationId xmlns:p14="http://schemas.microsoft.com/office/powerpoint/2010/main" val="3704405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D7B6E-9900-4464-F19F-0CB0F4B87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F2D4D-A3A7-5068-28D3-FC4F1479A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558962"/>
            <a:ext cx="10511627" cy="471489"/>
          </a:xfrm>
        </p:spPr>
        <p:txBody>
          <a:bodyPr/>
          <a:lstStyle/>
          <a:p>
            <a:r>
              <a:rPr lang="en-US" sz="2400" dirty="0"/>
              <a:t>Gesture Recognition and Distance Measurement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2D7C2-FFA6-0F21-5549-33CD900AA9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36070-7090-D1C5-1D96-F0EB4095177B}"/>
              </a:ext>
            </a:extLst>
          </p:cNvPr>
          <p:cNvSpPr txBox="1"/>
          <p:nvPr/>
        </p:nvSpPr>
        <p:spPr>
          <a:xfrm>
            <a:off x="2538737" y="1133303"/>
            <a:ext cx="7262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b="1" u="sng" dirty="0"/>
              <a:t>Generating the Landmark Table &amp; Annotated Output</a:t>
            </a:r>
            <a:endParaRPr lang="en-IN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DA0DE1-0C3A-2F9C-E30C-64A1CBD7F821}"/>
              </a:ext>
            </a:extLst>
          </p:cNvPr>
          <p:cNvSpPr txBox="1"/>
          <p:nvPr/>
        </p:nvSpPr>
        <p:spPr>
          <a:xfrm>
            <a:off x="765973" y="1679328"/>
            <a:ext cx="5330027" cy="424731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Creating a Landmark table: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rows = []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for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inenumerate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hand_landmarks.landmark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x_px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int(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lm.x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*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img_w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y_px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int(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lm.y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*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img_h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rows.append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([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lm.x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lm.y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lm.z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x_px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y_px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pd.DataFrame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(rows, columns=["Index”,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"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x_norm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 "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y_norm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 "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z_norm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 "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x_px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 "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y_px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"])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display(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df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Converts </a:t>
            </a:r>
            <a:r>
              <a:rPr lang="en-US" b="1" dirty="0"/>
              <a:t>normalized coordinates</a:t>
            </a:r>
            <a:r>
              <a:rPr lang="en-US" dirty="0"/>
              <a:t> (0–1 range) to </a:t>
            </a:r>
            <a:r>
              <a:rPr lang="en-US" b="1" dirty="0"/>
              <a:t>pixel coordinates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Displays all </a:t>
            </a:r>
            <a:r>
              <a:rPr lang="en-US" b="1" dirty="0"/>
              <a:t>21 landmarks</a:t>
            </a:r>
            <a:r>
              <a:rPr lang="en-US" dirty="0"/>
              <a:t> in a clean pandas </a:t>
            </a:r>
            <a:r>
              <a:rPr lang="en-US" dirty="0" err="1"/>
              <a:t>DataFrame.Loads</a:t>
            </a:r>
            <a:r>
              <a:rPr lang="en-US" dirty="0"/>
              <a:t> all essential libraries for video capture, landmark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39DA5C-8CB9-5749-708C-F327D50AB983}"/>
              </a:ext>
            </a:extLst>
          </p:cNvPr>
          <p:cNvSpPr txBox="1"/>
          <p:nvPr/>
        </p:nvSpPr>
        <p:spPr>
          <a:xfrm>
            <a:off x="6170212" y="1679328"/>
            <a:ext cx="514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Output 1: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F57D2-0CC3-390D-9F6D-7C631C978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408" y="2086854"/>
            <a:ext cx="3896801" cy="452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01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077F3-9D81-AB35-1442-94009B21D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30344-0365-FCBB-2CCA-7583CBB8D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558962"/>
            <a:ext cx="10511627" cy="471489"/>
          </a:xfrm>
        </p:spPr>
        <p:txBody>
          <a:bodyPr/>
          <a:lstStyle/>
          <a:p>
            <a:r>
              <a:rPr lang="en-US" sz="2400" dirty="0"/>
              <a:t>Gesture Recognition and Distance Measurement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D4340-7B58-1C4B-A2AC-3F0C66711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F2FA6-ACBE-3FD7-8860-24FF744AC2B0}"/>
              </a:ext>
            </a:extLst>
          </p:cNvPr>
          <p:cNvSpPr txBox="1"/>
          <p:nvPr/>
        </p:nvSpPr>
        <p:spPr>
          <a:xfrm>
            <a:off x="2538737" y="1133303"/>
            <a:ext cx="7262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b="1" u="sng" dirty="0"/>
              <a:t>Generating the Landmark Table &amp; Annotated Output</a:t>
            </a:r>
            <a:endParaRPr lang="en-IN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655340-DD3D-095D-6540-752FCCBC8304}"/>
              </a:ext>
            </a:extLst>
          </p:cNvPr>
          <p:cNvSpPr txBox="1"/>
          <p:nvPr/>
        </p:nvSpPr>
        <p:spPr>
          <a:xfrm>
            <a:off x="765974" y="1863994"/>
            <a:ext cx="5259442" cy="313932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Drawing Landmarks: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annotated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frame.copy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mp_drawing.draw_landmarks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(annotated,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hand_landmarks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mp_hands.HAND_CONNECTIONS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plt.imshow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(cv2.cvtColor(annotated,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cv2.COLOR_BGR2RGB))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plt.axis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("off")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plt.title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("Captured frame with hand landmarks")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plt.show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Draws connections &amp; points between landmarks.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Displays the final annotated hand image.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1AE663-1339-89A6-17E5-883D48C415F9}"/>
              </a:ext>
            </a:extLst>
          </p:cNvPr>
          <p:cNvSpPr txBox="1"/>
          <p:nvPr/>
        </p:nvSpPr>
        <p:spPr>
          <a:xfrm>
            <a:off x="6392569" y="1863994"/>
            <a:ext cx="514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Output 2: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CA7A06-47B8-FB9E-1C0B-38FEE10D9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926" y="2233326"/>
            <a:ext cx="4696480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02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DAF03-95DA-45EC-70AD-4A84293C3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BA74-0D9B-948D-8F7A-735C6FD9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558962"/>
            <a:ext cx="10511627" cy="471489"/>
          </a:xfrm>
        </p:spPr>
        <p:txBody>
          <a:bodyPr/>
          <a:lstStyle/>
          <a:p>
            <a:r>
              <a:rPr lang="en-US" sz="2400" dirty="0"/>
              <a:t>Gesture Recognition and Distance Measurement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C08A9-0812-D21E-2207-9DE6E32BA5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DFFF6B-6A05-49A3-A295-E29414213754}"/>
              </a:ext>
            </a:extLst>
          </p:cNvPr>
          <p:cNvSpPr txBox="1"/>
          <p:nvPr/>
        </p:nvSpPr>
        <p:spPr>
          <a:xfrm>
            <a:off x="2538737" y="1125330"/>
            <a:ext cx="7262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IN" sz="2000" b="1" u="sng" dirty="0"/>
              <a:t>Real-time </a:t>
            </a:r>
            <a:r>
              <a:rPr lang="en-IN" sz="2000" b="1" u="sng" dirty="0" err="1"/>
              <a:t>Thumb↔Index</a:t>
            </a:r>
            <a:r>
              <a:rPr lang="en-IN" sz="2000" b="1" u="sng" dirty="0"/>
              <a:t> Distance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AB65D6-42DA-C87D-8C3A-D403B69D3019}"/>
              </a:ext>
            </a:extLst>
          </p:cNvPr>
          <p:cNvSpPr txBox="1"/>
          <p:nvPr/>
        </p:nvSpPr>
        <p:spPr>
          <a:xfrm>
            <a:off x="836558" y="1620319"/>
            <a:ext cx="5259442" cy="507831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Distance Calculation: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lm_thumb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hand.landmark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[4];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lm_index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hand.landmark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[8]     norm=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math.dist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([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lm_thumb.x,lm_thumb.y,lm_thumb.z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],[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lm_index.x,lm_index.y,lm_index.z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math.hypot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lm_thumb.x-lm_index.x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)*w,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lm_thumb.y-lm_index.y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)*h)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Calculates </a:t>
            </a:r>
            <a:r>
              <a:rPr lang="en-US" b="1" dirty="0"/>
              <a:t>thumb–index distance</a:t>
            </a:r>
            <a:r>
              <a:rPr lang="en-US" dirty="0"/>
              <a:t> in normalized &amp; pixel units.</a:t>
            </a:r>
          </a:p>
          <a:p>
            <a:endParaRPr lang="en-US" dirty="0"/>
          </a:p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Pinch Detection &amp; Visualization: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pinch = 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&lt;=40 or norm&lt;=0.03)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cv2.circle(frame,(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tx,ty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),8,(0,0,255),-1)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cv2.circle(frame,(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ix,iy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),8,(255,0,0),-1)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cv2.line(frame,(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tx,ty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ix,iy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),(0,255,0),2)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Detects </a:t>
            </a:r>
            <a:r>
              <a:rPr lang="en-US" b="1" dirty="0"/>
              <a:t>pinch gesture</a:t>
            </a:r>
            <a:r>
              <a:rPr lang="en-US" dirty="0"/>
              <a:t> and draws colored dots + line on the frame.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b="1" dirty="0">
              <a:solidFill>
                <a:srgbClr val="7030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662F3B-2944-C2D9-ECB4-47DE14592D58}"/>
              </a:ext>
            </a:extLst>
          </p:cNvPr>
          <p:cNvSpPr txBox="1"/>
          <p:nvPr/>
        </p:nvSpPr>
        <p:spPr>
          <a:xfrm>
            <a:off x="6662077" y="2413337"/>
            <a:ext cx="46933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Live Plot &amp; Logging: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timestamps.append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(t);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norm_d.append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(norm);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pix_d.append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line_norm.set_data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timestamps,norm_d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line_pix.set_data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timestamps,pix_d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Updates </a:t>
            </a:r>
            <a:r>
              <a:rPr lang="en-US" b="1" dirty="0"/>
              <a:t>real-time plot</a:t>
            </a:r>
            <a:r>
              <a:rPr lang="en-US" dirty="0"/>
              <a:t> and optionally logs data to CSV.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194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B24AC-CA4C-C803-CB01-0AE0CAD66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4E2D-80B9-DCAA-1F9E-3DDCBFFF8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558962"/>
            <a:ext cx="10511627" cy="471489"/>
          </a:xfrm>
        </p:spPr>
        <p:txBody>
          <a:bodyPr/>
          <a:lstStyle/>
          <a:p>
            <a:r>
              <a:rPr lang="en-US" sz="2400" dirty="0"/>
              <a:t>Gesture Recognition and Distance Measurement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BF4E6-C2D6-0B2F-7450-2AF2A48512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D1330B-3673-A348-D3F4-9A9B5960713D}"/>
              </a:ext>
            </a:extLst>
          </p:cNvPr>
          <p:cNvSpPr txBox="1"/>
          <p:nvPr/>
        </p:nvSpPr>
        <p:spPr>
          <a:xfrm>
            <a:off x="1508177" y="1153392"/>
            <a:ext cx="905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IN" sz="2000" b="1" u="sng" dirty="0"/>
              <a:t>From Code → Outputs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4AE3D9-BD6E-02F7-E8AB-6B4F21FC87DF}"/>
              </a:ext>
            </a:extLst>
          </p:cNvPr>
          <p:cNvSpPr txBox="1"/>
          <p:nvPr/>
        </p:nvSpPr>
        <p:spPr>
          <a:xfrm>
            <a:off x="777193" y="1676443"/>
            <a:ext cx="5259442" cy="147732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Live Graph Output:</a:t>
            </a:r>
            <a:endParaRPr lang="en-US" b="1" dirty="0">
              <a:solidFill>
                <a:srgbClr val="7030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Plots </a:t>
            </a:r>
            <a:r>
              <a:rPr lang="en-US" b="1" dirty="0"/>
              <a:t>Thumb ↔ Index</a:t>
            </a:r>
            <a:r>
              <a:rPr lang="en-US" dirty="0"/>
              <a:t> distance over time(normalized + pixel)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Auto-updates using matplotlib for continuous tracking.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40E40E-B2D5-1128-7AB3-FC1FEDE0D543}"/>
              </a:ext>
            </a:extLst>
          </p:cNvPr>
          <p:cNvSpPr txBox="1"/>
          <p:nvPr/>
        </p:nvSpPr>
        <p:spPr>
          <a:xfrm>
            <a:off x="6721442" y="1656216"/>
            <a:ext cx="4693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Webcam Frame Output: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Red = Thumb Tip, Blue = Index Tip, Green = distance line.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Text overlay: Hand, Norm, Pixel, Pinch.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0F26E7-5D66-90CF-900D-7746635C6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552" y="3246104"/>
            <a:ext cx="182896" cy="365792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3172B349-E522-A0E8-8122-C31F331A0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FC8581-F23B-A07D-5E90-14C850265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619" y="3086394"/>
            <a:ext cx="3272589" cy="36224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C85898-6A33-2C88-2521-7C03053A6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1829" y="3086394"/>
            <a:ext cx="3272590" cy="362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83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3DEF7-5D00-8650-6963-6F4A78A8D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0E9F-84FA-A56D-6C22-372D37483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558962"/>
            <a:ext cx="10511627" cy="471489"/>
          </a:xfrm>
        </p:spPr>
        <p:txBody>
          <a:bodyPr/>
          <a:lstStyle/>
          <a:p>
            <a:r>
              <a:rPr lang="en-US" sz="2400" dirty="0"/>
              <a:t>Gesture Recognition and Distance Measurement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49A89-A305-4322-E141-B943308CEA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5BF3A6-51CF-5620-576E-0FEC8B27A253}"/>
              </a:ext>
            </a:extLst>
          </p:cNvPr>
          <p:cNvSpPr txBox="1"/>
          <p:nvPr/>
        </p:nvSpPr>
        <p:spPr>
          <a:xfrm>
            <a:off x="2149044" y="1112878"/>
            <a:ext cx="7893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000" b="1" u="sng" dirty="0"/>
              <a:t>Hand Landmarks — Camera / Video Selector (</a:t>
            </a:r>
            <a:r>
              <a:rPr lang="en-US" sz="2000" b="1" u="sng" dirty="0" err="1"/>
              <a:t>Streamlit</a:t>
            </a:r>
            <a:r>
              <a:rPr lang="en-US" sz="2000" b="1" u="sng" dirty="0"/>
              <a:t> App)</a:t>
            </a:r>
            <a:endParaRPr lang="en-IN" sz="2000" b="1" u="sng" dirty="0"/>
          </a:p>
          <a:p>
            <a:pPr lvl="1" algn="ctr"/>
            <a:endParaRPr lang="en-IN" sz="20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505AE4-E1DE-60F7-C023-A71CDCD7D0A1}"/>
              </a:ext>
            </a:extLst>
          </p:cNvPr>
          <p:cNvSpPr txBox="1"/>
          <p:nvPr/>
        </p:nvSpPr>
        <p:spPr>
          <a:xfrm>
            <a:off x="777193" y="1676443"/>
            <a:ext cx="5410255" cy="424731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Purpose: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Web-based app for </a:t>
            </a:r>
            <a:r>
              <a:rPr lang="en-US" b="1" dirty="0"/>
              <a:t>hand tracking</a:t>
            </a:r>
            <a:r>
              <a:rPr lang="en-US" dirty="0"/>
              <a:t> &amp; </a:t>
            </a:r>
            <a:r>
              <a:rPr lang="en-US" b="1" dirty="0"/>
              <a:t>pinch detection</a:t>
            </a:r>
            <a:endParaRPr lang="en-IN" b="1" dirty="0">
              <a:solidFill>
                <a:srgbClr val="7030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Built using </a:t>
            </a:r>
            <a:r>
              <a:rPr lang="en-US" b="1" dirty="0" err="1"/>
              <a:t>Streamlit</a:t>
            </a:r>
            <a:r>
              <a:rPr lang="en-US" b="1" dirty="0"/>
              <a:t> + </a:t>
            </a:r>
            <a:r>
              <a:rPr lang="en-US" b="1" dirty="0" err="1"/>
              <a:t>MediaPipe</a:t>
            </a:r>
            <a:r>
              <a:rPr lang="en-US" b="1" dirty="0"/>
              <a:t> + OpenCV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Supports </a:t>
            </a:r>
            <a:r>
              <a:rPr lang="en-US" b="1" dirty="0"/>
              <a:t>Webcam</a:t>
            </a:r>
            <a:r>
              <a:rPr lang="en-US" dirty="0"/>
              <a:t>, </a:t>
            </a:r>
            <a:r>
              <a:rPr lang="en-US" b="1" dirty="0"/>
              <a:t>Video Upload</a:t>
            </a:r>
            <a:r>
              <a:rPr lang="en-US" dirty="0"/>
              <a:t>, or </a:t>
            </a:r>
            <a:r>
              <a:rPr lang="en-US" b="1" dirty="0"/>
              <a:t>IP Stream</a:t>
            </a:r>
          </a:p>
          <a:p>
            <a:endParaRPr lang="en-US" b="1" dirty="0"/>
          </a:p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Main Code Snippets: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enable_pinch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st.sidebar.checkbox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("Show pinch distance", value=True)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pinch_max_dist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st.sidebar.slider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("Pinch max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distance",50, 400, 200)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hands=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mp.solutions.hands.Hands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max_num_hands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=2)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if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st.button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("Start"):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st.session_state.running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True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Adds sidebar controls, initializes </a:t>
            </a:r>
            <a:r>
              <a:rPr lang="en-US" dirty="0" err="1"/>
              <a:t>MediaPipe</a:t>
            </a:r>
            <a:r>
              <a:rPr lang="en-US" dirty="0"/>
              <a:t> Hands, and starts live detection.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A7FE21-1FE4-0187-8064-544AD1359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552" y="3246104"/>
            <a:ext cx="182896" cy="365792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2F4D7CDE-D38C-C968-76A7-8737F6C35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33413B9-F58D-0028-9D9C-AE00E80D2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551" y="2044676"/>
            <a:ext cx="5263506" cy="313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6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4A959-AC2F-D4B9-5B15-D2D6B2A56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8A531-3557-69B0-C8C3-F9E238255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558962"/>
            <a:ext cx="10511627" cy="471489"/>
          </a:xfrm>
        </p:spPr>
        <p:txBody>
          <a:bodyPr/>
          <a:lstStyle/>
          <a:p>
            <a:r>
              <a:rPr lang="en-US" sz="2400" dirty="0"/>
              <a:t>Gesture Recognition and Distance Measurement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54FDC-0029-D12B-3C67-FC6B1C01F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003374-C2F5-E706-D0AA-5C76867DE346}"/>
              </a:ext>
            </a:extLst>
          </p:cNvPr>
          <p:cNvSpPr txBox="1"/>
          <p:nvPr/>
        </p:nvSpPr>
        <p:spPr>
          <a:xfrm>
            <a:off x="2149044" y="1086572"/>
            <a:ext cx="7893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000" b="1" u="sng" dirty="0"/>
              <a:t>Pinch Detection Visualization &amp; Results</a:t>
            </a:r>
            <a:endParaRPr lang="en-IN" sz="20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AE3386-674A-B471-039D-0879162833AB}"/>
              </a:ext>
            </a:extLst>
          </p:cNvPr>
          <p:cNvSpPr txBox="1"/>
          <p:nvPr/>
        </p:nvSpPr>
        <p:spPr>
          <a:xfrm>
            <a:off x="777193" y="1676443"/>
            <a:ext cx="5410255" cy="452431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Pinch Detection Logic: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lm4, lm8 = hand[4], hand[8]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distance =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np.hypot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(x8 - x4, y8 - y4)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is_pinched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distance &lt;=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pinch_detect_threshold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Calculates thumb–index distance &amp; checks pinch condition.</a:t>
            </a:r>
          </a:p>
          <a:p>
            <a:endParaRPr lang="en-US" b="1" dirty="0"/>
          </a:p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Output: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Red/Blue Dots:</a:t>
            </a:r>
            <a:r>
              <a:rPr lang="en-US" dirty="0"/>
              <a:t> Thumb &amp; Index tips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Yellow Line:</a:t>
            </a:r>
            <a:r>
              <a:rPr lang="en-IN" dirty="0"/>
              <a:t> Pinch distance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Text Overlay:</a:t>
            </a:r>
            <a:r>
              <a:rPr lang="en-US" dirty="0"/>
              <a:t> e.g. Pinch: 116px (41%) open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7030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IN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3.Features: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Real-time gesture &amp; pinch detection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Adjustable thresholds via sliders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Works on webcam, video, or IP stream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847434-CC27-F72C-423D-0A0898614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552" y="3246104"/>
            <a:ext cx="182896" cy="365792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C3F2DB28-0CC4-B6EF-6910-ABF5A59EC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F79605-AC5C-7795-0FF7-3CACFD8F3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8" y="1956351"/>
            <a:ext cx="5410255" cy="331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87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3050005"/>
            <a:ext cx="5715000" cy="757989"/>
          </a:xfrm>
        </p:spPr>
        <p:txBody>
          <a:bodyPr/>
          <a:lstStyle/>
          <a:p>
            <a:pPr algn="ctr"/>
            <a:r>
              <a:rPr lang="en-US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{7311B202-EBB8-41AE-80C6-F0B15C449D49}tf78438558_win32</Template>
  <TotalTime>703</TotalTime>
  <Words>1200</Words>
  <Application>Microsoft Office PowerPoint</Application>
  <PresentationFormat>Widescreen</PresentationFormat>
  <Paragraphs>123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Microsoft YaHei</vt:lpstr>
      <vt:lpstr>Arial</vt:lpstr>
      <vt:lpstr>Arial Black</vt:lpstr>
      <vt:lpstr>Calibri</vt:lpstr>
      <vt:lpstr>Sabon Next LT</vt:lpstr>
      <vt:lpstr>Wingdings</vt:lpstr>
      <vt:lpstr>Custom</vt:lpstr>
      <vt:lpstr>Controlling Volume with Hand Gestures Using a Webcam by : Dhanush.m mentor : Dr. D.Bhanu Prakash </vt:lpstr>
      <vt:lpstr>Gesture Recognition and Distance Measurement</vt:lpstr>
      <vt:lpstr>Gesture Recognition and Distance Measurement</vt:lpstr>
      <vt:lpstr>Gesture Recognition and Distance Measurement</vt:lpstr>
      <vt:lpstr>Gesture Recognition and Distance Measurement</vt:lpstr>
      <vt:lpstr>Gesture Recognition and Distance Measurement</vt:lpstr>
      <vt:lpstr>Gesture Recognition and Distance Measurement</vt:lpstr>
      <vt:lpstr>Gesture Recognition and Distance Measurement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Dhanush Raju</dc:creator>
  <cp:lastModifiedBy>Dhanush Raju</cp:lastModifiedBy>
  <cp:revision>6</cp:revision>
  <dcterms:created xsi:type="dcterms:W3CDTF">2025-10-22T15:36:02Z</dcterms:created>
  <dcterms:modified xsi:type="dcterms:W3CDTF">2025-11-07T12:41:57Z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